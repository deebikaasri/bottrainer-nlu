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77663D-DC29-4D17-929E-8FCD2FE5AD97}" v="1" dt="2025-12-19T13:26:34.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nath karunakaran" userId="f71a3f4a6dfe28e8" providerId="LiveId" clId="{E203A3F7-A701-42BE-86E6-5C213D1A33A3}"/>
    <pc:docChg chg="modSld">
      <pc:chgData name="kamalnath karunakaran" userId="f71a3f4a6dfe28e8" providerId="LiveId" clId="{E203A3F7-A701-42BE-86E6-5C213D1A33A3}" dt="2025-12-19T13:32:47.905" v="1" actId="729"/>
      <pc:docMkLst>
        <pc:docMk/>
      </pc:docMkLst>
      <pc:sldChg chg="mod modShow">
        <pc:chgData name="kamalnath karunakaran" userId="f71a3f4a6dfe28e8" providerId="LiveId" clId="{E203A3F7-A701-42BE-86E6-5C213D1A33A3}" dt="2025-12-19T13:32:47.905" v="1" actId="729"/>
        <pc:sldMkLst>
          <pc:docMk/>
          <pc:sldMk cId="1895621829" sldId="256"/>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12/19/2025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12/19/2025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12/19/2025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12/19/2025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12/19/2025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12/19/2025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12/19/2025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12/19/2025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12/19/2025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12/19/2025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12/19/2025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AU"/>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12/19/2025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E34C6-E248-0F2B-DF0E-2345043D10AC}"/>
              </a:ext>
            </a:extLst>
          </p:cNvPr>
          <p:cNvSpPr>
            <a:spLocks noGrp="1"/>
          </p:cNvSpPr>
          <p:nvPr>
            <p:ph type="ctrTitle"/>
          </p:nvPr>
        </p:nvSpPr>
        <p:spPr>
          <a:xfrm>
            <a:off x="1154954" y="1621971"/>
            <a:ext cx="10122645" cy="3155410"/>
          </a:xfrm>
        </p:spPr>
        <p:txBody>
          <a:bodyPr/>
          <a:lstStyle/>
          <a:p>
            <a:br>
              <a:rPr lang="en-AU"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r>
              <a:rPr lang="en-AU" sz="4400" b="1" dirty="0">
                <a:latin typeface="Times New Roman" panose="02020603050405020304" pitchFamily="18" charset="0"/>
                <a:cs typeface="Times New Roman" panose="02020603050405020304" pitchFamily="18" charset="0"/>
              </a:rPr>
              <a:t>BOTTRAINER — NLU MODEL TRAINER AND EVALUATOR FOR CHATBOTS</a:t>
            </a:r>
            <a:br>
              <a:rPr lang="en-AU" dirty="0"/>
            </a:br>
            <a:endParaRPr lang="en-AU" dirty="0"/>
          </a:p>
        </p:txBody>
      </p:sp>
    </p:spTree>
    <p:extLst>
      <p:ext uri="{BB962C8B-B14F-4D97-AF65-F5344CB8AC3E}">
        <p14:creationId xmlns:p14="http://schemas.microsoft.com/office/powerpoint/2010/main" val="1895621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4F644-40BB-F224-C377-22537A602838}"/>
              </a:ext>
            </a:extLst>
          </p:cNvPr>
          <p:cNvSpPr>
            <a:spLocks noGrp="1"/>
          </p:cNvSpPr>
          <p:nvPr>
            <p:ph type="title"/>
          </p:nvPr>
        </p:nvSpPr>
        <p:spPr>
          <a:xfrm>
            <a:off x="1154954" y="707572"/>
            <a:ext cx="8761413" cy="914400"/>
          </a:xfrm>
        </p:spPr>
        <p:txBody>
          <a:bodyPr/>
          <a:lstStyle/>
          <a:p>
            <a:r>
              <a:rPr lang="en-AU" sz="4400" b="1" dirty="0">
                <a:latin typeface="Times New Roman" panose="02020603050405020304" pitchFamily="18" charset="0"/>
                <a:cs typeface="Times New Roman" panose="02020603050405020304" pitchFamily="18" charset="0"/>
              </a:rPr>
              <a:t>INTRODUCTION</a:t>
            </a:r>
            <a:br>
              <a:rPr lang="en-AU" dirty="0"/>
            </a:br>
            <a:endParaRPr lang="en-AU" dirty="0"/>
          </a:p>
        </p:txBody>
      </p:sp>
      <p:sp>
        <p:nvSpPr>
          <p:cNvPr id="3" name="Content Placeholder 2">
            <a:extLst>
              <a:ext uri="{FF2B5EF4-FFF2-40B4-BE49-F238E27FC236}">
                <a16:creationId xmlns:a16="http://schemas.microsoft.com/office/drawing/2014/main" id="{DF032272-FFF9-6E2B-5429-00860E53E711}"/>
              </a:ext>
            </a:extLst>
          </p:cNvPr>
          <p:cNvSpPr>
            <a:spLocks noGrp="1"/>
          </p:cNvSpPr>
          <p:nvPr>
            <p:ph idx="1"/>
          </p:nvPr>
        </p:nvSpPr>
        <p:spPr>
          <a:xfrm>
            <a:off x="1154954" y="2603500"/>
            <a:ext cx="10362132" cy="3416300"/>
          </a:xfrm>
        </p:spPr>
        <p:txBody>
          <a:bodyPr>
            <a:normAutofit/>
          </a:bodyPr>
          <a:lstStyle/>
          <a:p>
            <a:pPr algn="just"/>
            <a:r>
              <a:rPr lang="en-AU" sz="2400" dirty="0" err="1">
                <a:latin typeface="Times New Roman" panose="02020603050405020304" pitchFamily="18" charset="0"/>
                <a:cs typeface="Times New Roman" panose="02020603050405020304" pitchFamily="18" charset="0"/>
              </a:rPr>
              <a:t>BotTrainer</a:t>
            </a:r>
            <a:r>
              <a:rPr lang="en-AU" sz="2400" dirty="0">
                <a:latin typeface="Times New Roman" panose="02020603050405020304" pitchFamily="18" charset="0"/>
                <a:cs typeface="Times New Roman" panose="02020603050405020304" pitchFamily="18" charset="0"/>
              </a:rPr>
              <a:t> is designed as an end-to-end Natural Language Understanding (NLU) system for chatbots using modern Large Language Models (LLMs).</a:t>
            </a:r>
          </a:p>
          <a:p>
            <a:pPr marL="0" indent="0" algn="just">
              <a:buNone/>
            </a:pPr>
            <a:endParaRPr lang="en-AU" sz="2400" dirty="0">
              <a:latin typeface="Times New Roman" panose="02020603050405020304" pitchFamily="18" charset="0"/>
              <a:cs typeface="Times New Roman" panose="02020603050405020304" pitchFamily="18" charset="0"/>
            </a:endParaRPr>
          </a:p>
          <a:p>
            <a:pPr algn="just"/>
            <a:r>
              <a:rPr lang="en-AU" sz="2400" dirty="0">
                <a:latin typeface="Times New Roman" panose="02020603050405020304" pitchFamily="18" charset="0"/>
                <a:cs typeface="Times New Roman" panose="02020603050405020304" pitchFamily="18" charset="0"/>
              </a:rPr>
              <a:t>Natural Language Understanding (NLU) is a core component of modern conversational AI systems such as chatbots, virtual assistants, and customer support bots. It enables machines to interpret user input, understand user intent, and extract meaningful information from natural language text. NLU plays a critical role in ensuring smooth and accurate human–computer interaction.</a:t>
            </a:r>
          </a:p>
          <a:p>
            <a:pPr algn="just"/>
            <a:endParaRPr lang="en-AU" dirty="0"/>
          </a:p>
        </p:txBody>
      </p:sp>
    </p:spTree>
    <p:extLst>
      <p:ext uri="{BB962C8B-B14F-4D97-AF65-F5344CB8AC3E}">
        <p14:creationId xmlns:p14="http://schemas.microsoft.com/office/powerpoint/2010/main" val="514930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02631-8140-9E9B-E290-1918CECBB8C0}"/>
              </a:ext>
            </a:extLst>
          </p:cNvPr>
          <p:cNvSpPr>
            <a:spLocks noGrp="1"/>
          </p:cNvSpPr>
          <p:nvPr>
            <p:ph type="title"/>
          </p:nvPr>
        </p:nvSpPr>
        <p:spPr/>
        <p:txBody>
          <a:bodyPr/>
          <a:lstStyle/>
          <a:p>
            <a:r>
              <a:rPr lang="en-AU" sz="4400" b="1" dirty="0"/>
              <a:t>PROBLEM STATEMENT</a:t>
            </a:r>
            <a:endParaRPr lang="en-AU" sz="4400" dirty="0"/>
          </a:p>
        </p:txBody>
      </p:sp>
      <p:sp>
        <p:nvSpPr>
          <p:cNvPr id="3" name="Content Placeholder 2">
            <a:extLst>
              <a:ext uri="{FF2B5EF4-FFF2-40B4-BE49-F238E27FC236}">
                <a16:creationId xmlns:a16="http://schemas.microsoft.com/office/drawing/2014/main" id="{BD9030CE-2259-92DF-BA97-4EA010F7C756}"/>
              </a:ext>
            </a:extLst>
          </p:cNvPr>
          <p:cNvSpPr>
            <a:spLocks noGrp="1"/>
          </p:cNvSpPr>
          <p:nvPr>
            <p:ph idx="1"/>
          </p:nvPr>
        </p:nvSpPr>
        <p:spPr/>
        <p:txBody>
          <a:bodyPr>
            <a:normAutofit/>
          </a:bodyPr>
          <a:lstStyle/>
          <a:p>
            <a:pPr lvl="0" algn="just"/>
            <a:r>
              <a:rPr lang="en-AU" sz="2400" dirty="0">
                <a:latin typeface="Times New Roman" panose="02020603050405020304" pitchFamily="18" charset="0"/>
                <a:cs typeface="Times New Roman" panose="02020603050405020304" pitchFamily="18" charset="0"/>
              </a:rPr>
              <a:t>Understand user input in natural language</a:t>
            </a:r>
          </a:p>
          <a:p>
            <a:pPr lvl="0" algn="just"/>
            <a:r>
              <a:rPr lang="en-AU" sz="2400" dirty="0">
                <a:latin typeface="Times New Roman" panose="02020603050405020304" pitchFamily="18" charset="0"/>
                <a:cs typeface="Times New Roman" panose="02020603050405020304" pitchFamily="18" charset="0"/>
              </a:rPr>
              <a:t>Predict the correct intent of the user</a:t>
            </a:r>
          </a:p>
          <a:p>
            <a:pPr lvl="0" algn="just"/>
            <a:r>
              <a:rPr lang="en-AU" sz="2400" dirty="0">
                <a:latin typeface="Times New Roman" panose="02020603050405020304" pitchFamily="18" charset="0"/>
                <a:cs typeface="Times New Roman" panose="02020603050405020304" pitchFamily="18" charset="0"/>
              </a:rPr>
              <a:t>Extract relevant entities from the text</a:t>
            </a:r>
          </a:p>
          <a:p>
            <a:pPr lvl="0" algn="just"/>
            <a:r>
              <a:rPr lang="en-AU" sz="2400" dirty="0">
                <a:latin typeface="Times New Roman" panose="02020603050405020304" pitchFamily="18" charset="0"/>
                <a:cs typeface="Times New Roman" panose="02020603050405020304" pitchFamily="18" charset="0"/>
              </a:rPr>
              <a:t>Evaluate the system performance objectively</a:t>
            </a:r>
          </a:p>
          <a:p>
            <a:pPr lvl="0" algn="just"/>
            <a:r>
              <a:rPr lang="en-AU" sz="2400" dirty="0">
                <a:latin typeface="Times New Roman" panose="02020603050405020304" pitchFamily="18" charset="0"/>
                <a:cs typeface="Times New Roman" panose="02020603050405020304" pitchFamily="18" charset="0"/>
              </a:rPr>
              <a:t>Provide an interactive interface for real-time testing</a:t>
            </a:r>
          </a:p>
          <a:p>
            <a:pPr algn="just"/>
            <a:endParaRPr lang="en-A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91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B16E1-CB9B-5653-2F03-19FA7460A085}"/>
              </a:ext>
            </a:extLst>
          </p:cNvPr>
          <p:cNvSpPr>
            <a:spLocks noGrp="1"/>
          </p:cNvSpPr>
          <p:nvPr>
            <p:ph type="title"/>
          </p:nvPr>
        </p:nvSpPr>
        <p:spPr/>
        <p:txBody>
          <a:bodyPr/>
          <a:lstStyle/>
          <a:p>
            <a:r>
              <a:rPr lang="en-AU" sz="4400" b="1" dirty="0">
                <a:latin typeface="Times New Roman" panose="02020603050405020304" pitchFamily="18" charset="0"/>
                <a:cs typeface="Times New Roman" panose="02020603050405020304" pitchFamily="18" charset="0"/>
              </a:rPr>
              <a:t>Tools Used in the Project</a:t>
            </a:r>
            <a:br>
              <a:rPr lang="en-AU" sz="4400" dirty="0">
                <a:latin typeface="Times New Roman" panose="02020603050405020304" pitchFamily="18" charset="0"/>
                <a:cs typeface="Times New Roman" panose="02020603050405020304" pitchFamily="18" charset="0"/>
              </a:rPr>
            </a:br>
            <a:endParaRPr lang="en-AU"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F8EBF1-1BCF-390F-75F0-2B9EC4F67254}"/>
              </a:ext>
            </a:extLst>
          </p:cNvPr>
          <p:cNvSpPr>
            <a:spLocks noGrp="1"/>
          </p:cNvSpPr>
          <p:nvPr>
            <p:ph idx="1"/>
          </p:nvPr>
        </p:nvSpPr>
        <p:spPr>
          <a:xfrm>
            <a:off x="478972" y="2111829"/>
            <a:ext cx="11070772" cy="4572000"/>
          </a:xfrm>
        </p:spPr>
        <p:txBody>
          <a:bodyPr>
            <a:noAutofit/>
          </a:bodyPr>
          <a:lstStyle/>
          <a:p>
            <a:pPr lvl="0" algn="just"/>
            <a:r>
              <a:rPr lang="en-AU" sz="2400" b="1" dirty="0">
                <a:latin typeface="Times New Roman" panose="02020603050405020304" pitchFamily="18" charset="0"/>
                <a:cs typeface="Times New Roman" panose="02020603050405020304" pitchFamily="18" charset="0"/>
              </a:rPr>
              <a:t>Python</a:t>
            </a:r>
            <a:r>
              <a:rPr lang="en-AU" sz="2400" dirty="0">
                <a:latin typeface="Times New Roman" panose="02020603050405020304" pitchFamily="18" charset="0"/>
                <a:cs typeface="Times New Roman" panose="02020603050405020304" pitchFamily="18" charset="0"/>
              </a:rPr>
              <a:t> – Core programming language for backend logic</a:t>
            </a:r>
          </a:p>
          <a:p>
            <a:pPr lvl="0" algn="just"/>
            <a:r>
              <a:rPr lang="en-AU" sz="2400" b="1" dirty="0">
                <a:latin typeface="Times New Roman" panose="02020603050405020304" pitchFamily="18" charset="0"/>
                <a:cs typeface="Times New Roman" panose="02020603050405020304" pitchFamily="18" charset="0"/>
              </a:rPr>
              <a:t>Large Language Models (LLMs)</a:t>
            </a:r>
            <a:r>
              <a:rPr lang="en-AU" sz="2400" dirty="0">
                <a:latin typeface="Times New Roman" panose="02020603050405020304" pitchFamily="18" charset="0"/>
                <a:cs typeface="Times New Roman" panose="02020603050405020304" pitchFamily="18" charset="0"/>
              </a:rPr>
              <a:t> – Used for intent classification and entity extraction</a:t>
            </a:r>
          </a:p>
          <a:p>
            <a:pPr lvl="0" algn="just"/>
            <a:r>
              <a:rPr lang="en-AU" sz="2400" b="1" dirty="0" err="1">
                <a:latin typeface="Times New Roman" panose="02020603050405020304" pitchFamily="18" charset="0"/>
                <a:cs typeface="Times New Roman" panose="02020603050405020304" pitchFamily="18" charset="0"/>
              </a:rPr>
              <a:t>Ollama</a:t>
            </a:r>
            <a:r>
              <a:rPr lang="en-AU" sz="2400" dirty="0">
                <a:latin typeface="Times New Roman" panose="02020603050405020304" pitchFamily="18" charset="0"/>
                <a:cs typeface="Times New Roman" panose="02020603050405020304" pitchFamily="18" charset="0"/>
              </a:rPr>
              <a:t> – To run LLMs locally for inference</a:t>
            </a:r>
          </a:p>
          <a:p>
            <a:pPr lvl="0" algn="just"/>
            <a:r>
              <a:rPr lang="en-AU" sz="2400" b="1" dirty="0">
                <a:latin typeface="Times New Roman" panose="02020603050405020304" pitchFamily="18" charset="0"/>
                <a:cs typeface="Times New Roman" panose="02020603050405020304" pitchFamily="18" charset="0"/>
              </a:rPr>
              <a:t>Gemma-3 Model</a:t>
            </a:r>
            <a:r>
              <a:rPr lang="en-AU" sz="2400" dirty="0">
                <a:latin typeface="Times New Roman" panose="02020603050405020304" pitchFamily="18" charset="0"/>
                <a:cs typeface="Times New Roman" panose="02020603050405020304" pitchFamily="18" charset="0"/>
              </a:rPr>
              <a:t> – Local LLM used for structured NLU tasks</a:t>
            </a:r>
          </a:p>
          <a:p>
            <a:pPr lvl="0" algn="just"/>
            <a:r>
              <a:rPr lang="en-AU" sz="2400" b="1" dirty="0" err="1">
                <a:latin typeface="Times New Roman" panose="02020603050405020304" pitchFamily="18" charset="0"/>
                <a:cs typeface="Times New Roman" panose="02020603050405020304" pitchFamily="18" charset="0"/>
              </a:rPr>
              <a:t>Streamlit</a:t>
            </a:r>
            <a:r>
              <a:rPr lang="en-AU" sz="2400" dirty="0">
                <a:latin typeface="Times New Roman" panose="02020603050405020304" pitchFamily="18" charset="0"/>
                <a:cs typeface="Times New Roman" panose="02020603050405020304" pitchFamily="18" charset="0"/>
              </a:rPr>
              <a:t> – For building an interactive web-based user interface</a:t>
            </a:r>
          </a:p>
          <a:p>
            <a:pPr lvl="0" algn="just"/>
            <a:r>
              <a:rPr lang="en-AU" sz="2400" b="1" dirty="0">
                <a:latin typeface="Times New Roman" panose="02020603050405020304" pitchFamily="18" charset="0"/>
                <a:cs typeface="Times New Roman" panose="02020603050405020304" pitchFamily="18" charset="0"/>
              </a:rPr>
              <a:t>JSON</a:t>
            </a:r>
            <a:r>
              <a:rPr lang="en-AU" sz="2400" dirty="0">
                <a:latin typeface="Times New Roman" panose="02020603050405020304" pitchFamily="18" charset="0"/>
                <a:cs typeface="Times New Roman" panose="02020603050405020304" pitchFamily="18" charset="0"/>
              </a:rPr>
              <a:t> – For dataset design, prompts, and structured output</a:t>
            </a:r>
          </a:p>
          <a:p>
            <a:pPr lvl="0" algn="just"/>
            <a:r>
              <a:rPr lang="en-AU" sz="2400" b="1" dirty="0">
                <a:latin typeface="Times New Roman" panose="02020603050405020304" pitchFamily="18" charset="0"/>
                <a:cs typeface="Times New Roman" panose="02020603050405020304" pitchFamily="18" charset="0"/>
              </a:rPr>
              <a:t>Scikit-learn</a:t>
            </a:r>
            <a:r>
              <a:rPr lang="en-AU" sz="2400" dirty="0">
                <a:latin typeface="Times New Roman" panose="02020603050405020304" pitchFamily="18" charset="0"/>
                <a:cs typeface="Times New Roman" panose="02020603050405020304" pitchFamily="18" charset="0"/>
              </a:rPr>
              <a:t> – For evaluation metrics such as accuracy, precision, recall, and F1-score</a:t>
            </a:r>
          </a:p>
          <a:p>
            <a:pPr lvl="0" algn="just"/>
            <a:r>
              <a:rPr lang="en-AU" sz="2400" b="1" dirty="0">
                <a:latin typeface="Times New Roman" panose="02020603050405020304" pitchFamily="18" charset="0"/>
                <a:cs typeface="Times New Roman" panose="02020603050405020304" pitchFamily="18" charset="0"/>
              </a:rPr>
              <a:t>Git &amp; GitHub</a:t>
            </a:r>
            <a:r>
              <a:rPr lang="en-AU" sz="2400" dirty="0">
                <a:latin typeface="Times New Roman" panose="02020603050405020304" pitchFamily="18" charset="0"/>
                <a:cs typeface="Times New Roman" panose="02020603050405020304" pitchFamily="18" charset="0"/>
              </a:rPr>
              <a:t> – Version control and project hosting</a:t>
            </a:r>
          </a:p>
          <a:p>
            <a:pPr algn="just"/>
            <a:endParaRPr lang="en-A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245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FD659-8413-05BE-E29A-A53C487F5276}"/>
              </a:ext>
            </a:extLst>
          </p:cNvPr>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IMPLEMENTATION </a:t>
            </a:r>
            <a:endParaRPr lang="en-AU"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26B06B-97CD-3BCB-A49E-44819357AD73}"/>
              </a:ext>
            </a:extLst>
          </p:cNvPr>
          <p:cNvSpPr>
            <a:spLocks noGrp="1"/>
          </p:cNvSpPr>
          <p:nvPr>
            <p:ph idx="1"/>
          </p:nvPr>
        </p:nvSpPr>
        <p:spPr>
          <a:xfrm>
            <a:off x="478972" y="2209800"/>
            <a:ext cx="11049000" cy="3810000"/>
          </a:xfrm>
        </p:spPr>
        <p:txBody>
          <a:bodyPr>
            <a:noAutofit/>
          </a:bodyPr>
          <a:lstStyle/>
          <a:p>
            <a:pPr lvl="0" algn="just"/>
            <a:r>
              <a:rPr lang="en-AU" sz="2400" dirty="0">
                <a:latin typeface="Times New Roman" panose="02020603050405020304" pitchFamily="18" charset="0"/>
                <a:cs typeface="Times New Roman" panose="02020603050405020304" pitchFamily="18" charset="0"/>
              </a:rPr>
              <a:t>Designed a JSON-based NLU dataset containing intents, example utterances, and entity schema.</a:t>
            </a:r>
          </a:p>
          <a:p>
            <a:pPr lvl="0" algn="just"/>
            <a:r>
              <a:rPr lang="en-AU" sz="2400" dirty="0">
                <a:latin typeface="Times New Roman" panose="02020603050405020304" pitchFamily="18" charset="0"/>
                <a:cs typeface="Times New Roman" panose="02020603050405020304" pitchFamily="18" charset="0"/>
              </a:rPr>
              <a:t>Created prompt templates that guide the LLM to select one intent and extract only valid entities.</a:t>
            </a:r>
          </a:p>
          <a:p>
            <a:pPr lvl="0" algn="just"/>
            <a:r>
              <a:rPr lang="en-AU" sz="2400" dirty="0">
                <a:latin typeface="Times New Roman" panose="02020603050405020304" pitchFamily="18" charset="0"/>
                <a:cs typeface="Times New Roman" panose="02020603050405020304" pitchFamily="18" charset="0"/>
              </a:rPr>
              <a:t>Integrated a local LLM using </a:t>
            </a:r>
            <a:r>
              <a:rPr lang="en-AU" sz="2400" dirty="0" err="1">
                <a:latin typeface="Times New Roman" panose="02020603050405020304" pitchFamily="18" charset="0"/>
                <a:cs typeface="Times New Roman" panose="02020603050405020304" pitchFamily="18" charset="0"/>
              </a:rPr>
              <a:t>Ollama</a:t>
            </a:r>
            <a:r>
              <a:rPr lang="en-AU" sz="2400" dirty="0">
                <a:latin typeface="Times New Roman" panose="02020603050405020304" pitchFamily="18" charset="0"/>
                <a:cs typeface="Times New Roman" panose="02020603050405020304" pitchFamily="18" charset="0"/>
              </a:rPr>
              <a:t> to process user queries.</a:t>
            </a:r>
          </a:p>
          <a:p>
            <a:pPr lvl="0" algn="just"/>
            <a:r>
              <a:rPr lang="en-AU" sz="2400" dirty="0">
                <a:latin typeface="Times New Roman" panose="02020603050405020304" pitchFamily="18" charset="0"/>
                <a:cs typeface="Times New Roman" panose="02020603050405020304" pitchFamily="18" charset="0"/>
              </a:rPr>
              <a:t>Implemented a validation layer to ensure LLM outputs valid JSON responses.</a:t>
            </a:r>
          </a:p>
          <a:p>
            <a:pPr lvl="0" algn="just"/>
            <a:r>
              <a:rPr lang="en-AU" sz="2400" dirty="0">
                <a:latin typeface="Times New Roman" panose="02020603050405020304" pitchFamily="18" charset="0"/>
                <a:cs typeface="Times New Roman" panose="02020603050405020304" pitchFamily="18" charset="0"/>
              </a:rPr>
              <a:t>Built a </a:t>
            </a:r>
            <a:r>
              <a:rPr lang="en-AU" sz="2400" dirty="0" err="1">
                <a:latin typeface="Times New Roman" panose="02020603050405020304" pitchFamily="18" charset="0"/>
                <a:cs typeface="Times New Roman" panose="02020603050405020304" pitchFamily="18" charset="0"/>
              </a:rPr>
              <a:t>Streamlit</a:t>
            </a:r>
            <a:r>
              <a:rPr lang="en-AU" sz="2400" dirty="0">
                <a:latin typeface="Times New Roman" panose="02020603050405020304" pitchFamily="18" charset="0"/>
                <a:cs typeface="Times New Roman" panose="02020603050405020304" pitchFamily="18" charset="0"/>
              </a:rPr>
              <a:t> application to accept user input and display predictions.</a:t>
            </a:r>
          </a:p>
          <a:p>
            <a:pPr lvl="0" algn="just"/>
            <a:r>
              <a:rPr lang="en-AU" sz="2400" dirty="0">
                <a:latin typeface="Times New Roman" panose="02020603050405020304" pitchFamily="18" charset="0"/>
                <a:cs typeface="Times New Roman" panose="02020603050405020304" pitchFamily="18" charset="0"/>
              </a:rPr>
              <a:t>Developed an evaluation module to compare predictions with </a:t>
            </a:r>
            <a:r>
              <a:rPr lang="en-AU" sz="2400" dirty="0" err="1">
                <a:latin typeface="Times New Roman" panose="02020603050405020304" pitchFamily="18" charset="0"/>
                <a:cs typeface="Times New Roman" panose="02020603050405020304" pitchFamily="18" charset="0"/>
              </a:rPr>
              <a:t>labeled</a:t>
            </a:r>
            <a:r>
              <a:rPr lang="en-AU" sz="2400" dirty="0">
                <a:latin typeface="Times New Roman" panose="02020603050405020304" pitchFamily="18" charset="0"/>
                <a:cs typeface="Times New Roman" panose="02020603050405020304" pitchFamily="18" charset="0"/>
              </a:rPr>
              <a:t> evaluation data.</a:t>
            </a:r>
          </a:p>
          <a:p>
            <a:pPr lvl="0" algn="just"/>
            <a:r>
              <a:rPr lang="en-AU" sz="2400" dirty="0">
                <a:latin typeface="Times New Roman" panose="02020603050405020304" pitchFamily="18" charset="0"/>
                <a:cs typeface="Times New Roman" panose="02020603050405020304" pitchFamily="18" charset="0"/>
              </a:rPr>
              <a:t>Stored the complete project with documentation in a public GitHub repository.</a:t>
            </a:r>
          </a:p>
          <a:p>
            <a:pPr marL="0" indent="0" algn="just">
              <a:buNone/>
            </a:pPr>
            <a:endParaRPr lang="en-AU" sz="2400" dirty="0">
              <a:latin typeface="Times New Roman" panose="02020603050405020304" pitchFamily="18" charset="0"/>
              <a:cs typeface="Times New Roman" panose="02020603050405020304" pitchFamily="18" charset="0"/>
            </a:endParaRPr>
          </a:p>
          <a:p>
            <a:pPr algn="just"/>
            <a:endParaRPr lang="en-A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2588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0CB2D-B4BC-5368-0746-6C5819D56CD6}"/>
              </a:ext>
            </a:extLst>
          </p:cNvPr>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SOLUTION </a:t>
            </a:r>
            <a:endParaRPr lang="en-AU"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AEC699-F330-664A-8748-2336F7A734DE}"/>
              </a:ext>
            </a:extLst>
          </p:cNvPr>
          <p:cNvSpPr>
            <a:spLocks noGrp="1"/>
          </p:cNvSpPr>
          <p:nvPr>
            <p:ph idx="1"/>
          </p:nvPr>
        </p:nvSpPr>
        <p:spPr/>
        <p:txBody>
          <a:bodyPr>
            <a:normAutofit/>
          </a:bodyPr>
          <a:lstStyle/>
          <a:p>
            <a:pPr algn="just"/>
            <a:r>
              <a:rPr lang="en-AU" sz="2400" dirty="0">
                <a:latin typeface="Times New Roman" panose="02020603050405020304" pitchFamily="18" charset="0"/>
                <a:cs typeface="Times New Roman" panose="02020603050405020304" pitchFamily="18" charset="0"/>
              </a:rPr>
              <a:t>The problem was solved by replacing traditional training-based models with prompt-engineered LLM inference. Instead of training a classifier, the system sends structured prompts to the LLM, which:</a:t>
            </a:r>
          </a:p>
          <a:p>
            <a:pPr lvl="0" algn="just"/>
            <a:r>
              <a:rPr lang="en-AU" sz="2400" dirty="0">
                <a:latin typeface="Times New Roman" panose="02020603050405020304" pitchFamily="18" charset="0"/>
                <a:cs typeface="Times New Roman" panose="02020603050405020304" pitchFamily="18" charset="0"/>
              </a:rPr>
              <a:t>Selects the most appropriate intent from predefined options</a:t>
            </a:r>
          </a:p>
          <a:p>
            <a:pPr lvl="0" algn="just"/>
            <a:r>
              <a:rPr lang="en-AU" sz="2400" dirty="0">
                <a:latin typeface="Times New Roman" panose="02020603050405020304" pitchFamily="18" charset="0"/>
                <a:cs typeface="Times New Roman" panose="02020603050405020304" pitchFamily="18" charset="0"/>
              </a:rPr>
              <a:t>Extracts relevant entities based on schema constraints</a:t>
            </a:r>
          </a:p>
          <a:p>
            <a:pPr algn="just"/>
            <a:r>
              <a:rPr lang="en-AU" sz="2400" dirty="0">
                <a:latin typeface="Times New Roman" panose="02020603050405020304" pitchFamily="18" charset="0"/>
                <a:cs typeface="Times New Roman" panose="02020603050405020304" pitchFamily="18" charset="0"/>
              </a:rPr>
              <a:t>Returns results in a strict JSON format</a:t>
            </a:r>
          </a:p>
        </p:txBody>
      </p:sp>
    </p:spTree>
    <p:extLst>
      <p:ext uri="{BB962C8B-B14F-4D97-AF65-F5344CB8AC3E}">
        <p14:creationId xmlns:p14="http://schemas.microsoft.com/office/powerpoint/2010/main" val="2567191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CC05D-93B1-2ED2-079C-07E09C277940}"/>
              </a:ext>
            </a:extLst>
          </p:cNvPr>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CHALLENGES</a:t>
            </a:r>
            <a:endParaRPr lang="en-AU"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428E6B-3696-D428-3632-690F647874ED}"/>
              </a:ext>
            </a:extLst>
          </p:cNvPr>
          <p:cNvSpPr>
            <a:spLocks noGrp="1"/>
          </p:cNvSpPr>
          <p:nvPr>
            <p:ph idx="1"/>
          </p:nvPr>
        </p:nvSpPr>
        <p:spPr/>
        <p:txBody>
          <a:bodyPr>
            <a:normAutofit/>
          </a:bodyPr>
          <a:lstStyle/>
          <a:p>
            <a:pPr algn="just"/>
            <a:r>
              <a:rPr lang="en-AU" sz="2400" dirty="0">
                <a:latin typeface="Times New Roman" panose="02020603050405020304" pitchFamily="18" charset="0"/>
                <a:cs typeface="Times New Roman" panose="02020603050405020304" pitchFamily="18" charset="0"/>
              </a:rPr>
              <a:t>Several challenges were encountered during development:</a:t>
            </a:r>
          </a:p>
          <a:p>
            <a:pPr lvl="0" algn="just"/>
            <a:r>
              <a:rPr lang="en-AU" sz="2400" dirty="0">
                <a:latin typeface="Times New Roman" panose="02020603050405020304" pitchFamily="18" charset="0"/>
                <a:cs typeface="Times New Roman" panose="02020603050405020304" pitchFamily="18" charset="0"/>
              </a:rPr>
              <a:t>Ensuring the LLM always returned valid JSON output</a:t>
            </a:r>
          </a:p>
          <a:p>
            <a:pPr lvl="0" algn="just"/>
            <a:r>
              <a:rPr lang="en-AU" sz="2400" dirty="0">
                <a:latin typeface="Times New Roman" panose="02020603050405020304" pitchFamily="18" charset="0"/>
                <a:cs typeface="Times New Roman" panose="02020603050405020304" pitchFamily="18" charset="0"/>
              </a:rPr>
              <a:t>Reducing hallucinations in intent and entity predictions</a:t>
            </a:r>
          </a:p>
          <a:p>
            <a:pPr lvl="0" algn="just"/>
            <a:r>
              <a:rPr lang="en-AU" sz="2400" dirty="0">
                <a:latin typeface="Times New Roman" panose="02020603050405020304" pitchFamily="18" charset="0"/>
                <a:cs typeface="Times New Roman" panose="02020603050405020304" pitchFamily="18" charset="0"/>
              </a:rPr>
              <a:t>Designing prompts that worked consistently across different inputs</a:t>
            </a:r>
          </a:p>
          <a:p>
            <a:pPr lvl="0" algn="just"/>
            <a:r>
              <a:rPr lang="en-AU" sz="2400" dirty="0">
                <a:latin typeface="Times New Roman" panose="02020603050405020304" pitchFamily="18" charset="0"/>
                <a:cs typeface="Times New Roman" panose="02020603050405020304" pitchFamily="18" charset="0"/>
              </a:rPr>
              <a:t>Evaluating LLM output in a deterministic manner</a:t>
            </a:r>
          </a:p>
          <a:p>
            <a:pPr lvl="0" algn="just"/>
            <a:r>
              <a:rPr lang="en-AU" sz="2400" dirty="0">
                <a:latin typeface="Times New Roman" panose="02020603050405020304" pitchFamily="18" charset="0"/>
                <a:cs typeface="Times New Roman" panose="02020603050405020304" pitchFamily="18" charset="0"/>
              </a:rPr>
              <a:t>Managing multiple intents with overlapping meanings</a:t>
            </a:r>
          </a:p>
          <a:p>
            <a:pPr algn="just"/>
            <a:endParaRPr lang="en-A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849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5085-869E-0E54-087D-EB127736A0CC}"/>
              </a:ext>
            </a:extLst>
          </p:cNvPr>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IMPACT</a:t>
            </a:r>
            <a:endParaRPr lang="en-AU"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52F3F4-1EA7-D4BB-F4C7-1DD9BD4E097C}"/>
              </a:ext>
            </a:extLst>
          </p:cNvPr>
          <p:cNvSpPr>
            <a:spLocks noGrp="1"/>
          </p:cNvSpPr>
          <p:nvPr>
            <p:ph idx="1"/>
          </p:nvPr>
        </p:nvSpPr>
        <p:spPr>
          <a:xfrm>
            <a:off x="1154954" y="2603500"/>
            <a:ext cx="9861389" cy="3416300"/>
          </a:xfrm>
        </p:spPr>
        <p:txBody>
          <a:bodyPr>
            <a:noAutofit/>
          </a:bodyPr>
          <a:lstStyle/>
          <a:p>
            <a:pPr algn="just"/>
            <a:r>
              <a:rPr lang="en-AU" sz="2400" dirty="0">
                <a:latin typeface="Times New Roman" panose="02020603050405020304" pitchFamily="18" charset="0"/>
                <a:cs typeface="Times New Roman" panose="02020603050405020304" pitchFamily="18" charset="0"/>
              </a:rPr>
              <a:t>The </a:t>
            </a:r>
            <a:r>
              <a:rPr lang="en-AU" sz="2400" dirty="0" err="1">
                <a:latin typeface="Times New Roman" panose="02020603050405020304" pitchFamily="18" charset="0"/>
                <a:cs typeface="Times New Roman" panose="02020603050405020304" pitchFamily="18" charset="0"/>
              </a:rPr>
              <a:t>BotTrainer</a:t>
            </a:r>
            <a:r>
              <a:rPr lang="en-AU" sz="2400" dirty="0">
                <a:latin typeface="Times New Roman" panose="02020603050405020304" pitchFamily="18" charset="0"/>
                <a:cs typeface="Times New Roman" panose="02020603050405020304" pitchFamily="18" charset="0"/>
              </a:rPr>
              <a:t> project demonstrates the effectiveness of LLM-based NLU systems without traditional model training. The impact of the project includes:</a:t>
            </a:r>
          </a:p>
          <a:p>
            <a:pPr lvl="0" algn="just"/>
            <a:r>
              <a:rPr lang="en-AU" sz="2400" dirty="0">
                <a:latin typeface="Times New Roman" panose="02020603050405020304" pitchFamily="18" charset="0"/>
                <a:cs typeface="Times New Roman" panose="02020603050405020304" pitchFamily="18" charset="0"/>
              </a:rPr>
              <a:t>Faster development of NLU systems</a:t>
            </a:r>
          </a:p>
          <a:p>
            <a:pPr lvl="0" algn="just"/>
            <a:r>
              <a:rPr lang="en-AU" sz="2400" dirty="0">
                <a:latin typeface="Times New Roman" panose="02020603050405020304" pitchFamily="18" charset="0"/>
                <a:cs typeface="Times New Roman" panose="02020603050405020304" pitchFamily="18" charset="0"/>
              </a:rPr>
              <a:t>Easy scalability by adding new intents</a:t>
            </a:r>
          </a:p>
          <a:p>
            <a:pPr lvl="0" algn="just"/>
            <a:r>
              <a:rPr lang="en-AU" sz="2400" dirty="0">
                <a:latin typeface="Times New Roman" panose="02020603050405020304" pitchFamily="18" charset="0"/>
                <a:cs typeface="Times New Roman" panose="02020603050405020304" pitchFamily="18" charset="0"/>
              </a:rPr>
              <a:t>Reduced dependency on large </a:t>
            </a:r>
            <a:r>
              <a:rPr lang="en-AU" sz="2400" dirty="0" err="1">
                <a:latin typeface="Times New Roman" panose="02020603050405020304" pitchFamily="18" charset="0"/>
                <a:cs typeface="Times New Roman" panose="02020603050405020304" pitchFamily="18" charset="0"/>
              </a:rPr>
              <a:t>labeled</a:t>
            </a:r>
            <a:r>
              <a:rPr lang="en-AU" sz="2400" dirty="0">
                <a:latin typeface="Times New Roman" panose="02020603050405020304" pitchFamily="18" charset="0"/>
                <a:cs typeface="Times New Roman" panose="02020603050405020304" pitchFamily="18" charset="0"/>
              </a:rPr>
              <a:t> datasets</a:t>
            </a:r>
          </a:p>
          <a:p>
            <a:pPr lvl="0" algn="just"/>
            <a:r>
              <a:rPr lang="en-AU" sz="2400" dirty="0">
                <a:latin typeface="Times New Roman" panose="02020603050405020304" pitchFamily="18" charset="0"/>
                <a:cs typeface="Times New Roman" panose="02020603050405020304" pitchFamily="18" charset="0"/>
              </a:rPr>
              <a:t>Improved flexibility for chatbot applications</a:t>
            </a:r>
          </a:p>
          <a:p>
            <a:pPr lvl="0" algn="just"/>
            <a:r>
              <a:rPr lang="en-AU" sz="2400" dirty="0">
                <a:latin typeface="Times New Roman" panose="02020603050405020304" pitchFamily="18" charset="0"/>
                <a:cs typeface="Times New Roman" panose="02020603050405020304" pitchFamily="18" charset="0"/>
              </a:rPr>
              <a:t>Practical exposure to modern LLM-based NLP techniques</a:t>
            </a:r>
          </a:p>
          <a:p>
            <a:pPr algn="just"/>
            <a:endParaRPr lang="en-A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160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FCFF-3E8E-A03B-C3AD-75D1C411080C}"/>
              </a:ext>
            </a:extLst>
          </p:cNvPr>
          <p:cNvSpPr>
            <a:spLocks noGrp="1"/>
          </p:cNvSpPr>
          <p:nvPr>
            <p:ph type="title"/>
          </p:nvPr>
        </p:nvSpPr>
        <p:spPr/>
        <p:txBody>
          <a:bodyPr/>
          <a:lstStyle/>
          <a:p>
            <a:r>
              <a:rPr lang="en-US" sz="4400" dirty="0"/>
              <a:t>CONCLUSION</a:t>
            </a:r>
            <a:endParaRPr lang="en-AU" sz="4400" dirty="0"/>
          </a:p>
        </p:txBody>
      </p:sp>
      <p:sp>
        <p:nvSpPr>
          <p:cNvPr id="3" name="Content Placeholder 2">
            <a:extLst>
              <a:ext uri="{FF2B5EF4-FFF2-40B4-BE49-F238E27FC236}">
                <a16:creationId xmlns:a16="http://schemas.microsoft.com/office/drawing/2014/main" id="{DDB20825-5514-82D2-C863-4AF5DDAE322F}"/>
              </a:ext>
            </a:extLst>
          </p:cNvPr>
          <p:cNvSpPr>
            <a:spLocks noGrp="1"/>
          </p:cNvSpPr>
          <p:nvPr>
            <p:ph idx="1"/>
          </p:nvPr>
        </p:nvSpPr>
        <p:spPr/>
        <p:txBody>
          <a:bodyPr>
            <a:noAutofit/>
          </a:bodyPr>
          <a:lstStyle/>
          <a:p>
            <a:pPr algn="just"/>
            <a:r>
              <a:rPr lang="en-AU" sz="2400" dirty="0" err="1">
                <a:latin typeface="Times New Roman" panose="02020603050405020304" pitchFamily="18" charset="0"/>
                <a:cs typeface="Times New Roman" panose="02020603050405020304" pitchFamily="18" charset="0"/>
              </a:rPr>
              <a:t>BotTrainer</a:t>
            </a:r>
            <a:r>
              <a:rPr lang="en-AU" sz="2400" dirty="0">
                <a:latin typeface="Times New Roman" panose="02020603050405020304" pitchFamily="18" charset="0"/>
                <a:cs typeface="Times New Roman" panose="02020603050405020304" pitchFamily="18" charset="0"/>
              </a:rPr>
              <a:t> demonstrates that prompt-engineered Large Language Models can effectively replace traditional intent classification systems. The project highlights a modern, scalable, and training-free approach to Natural Language Understanding.</a:t>
            </a:r>
          </a:p>
          <a:p>
            <a:pPr algn="just"/>
            <a:r>
              <a:rPr lang="en-AU" sz="2400" dirty="0">
                <a:latin typeface="Times New Roman" panose="02020603050405020304" pitchFamily="18" charset="0"/>
                <a:cs typeface="Times New Roman" panose="02020603050405020304" pitchFamily="18" charset="0"/>
              </a:rPr>
              <a:t>By combining prompt engineering, local LLM inference, evaluation metrics, and an interactive user interface, the project provides a complete end-to-end NLU solution suitable for academic research and real-world chatbot applications.</a:t>
            </a:r>
          </a:p>
          <a:p>
            <a:pPr algn="just"/>
            <a:endParaRPr lang="en-A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342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57943-715F-BC8E-EF33-7136F8346588}"/>
              </a:ext>
            </a:extLst>
          </p:cNvPr>
          <p:cNvSpPr>
            <a:spLocks noGrp="1"/>
          </p:cNvSpPr>
          <p:nvPr>
            <p:ph type="title"/>
          </p:nvPr>
        </p:nvSpPr>
        <p:spPr>
          <a:xfrm>
            <a:off x="805544" y="631372"/>
            <a:ext cx="9110824" cy="718458"/>
          </a:xfrm>
        </p:spPr>
        <p:txBody>
          <a:bodyPr/>
          <a:lstStyle/>
          <a:p>
            <a:r>
              <a:rPr lang="en-US" dirty="0"/>
              <a:t>OUTPUT</a:t>
            </a:r>
            <a:endParaRPr lang="en-AU" dirty="0"/>
          </a:p>
        </p:txBody>
      </p:sp>
      <p:pic>
        <p:nvPicPr>
          <p:cNvPr id="5" name="Content Placeholder 4">
            <a:extLst>
              <a:ext uri="{FF2B5EF4-FFF2-40B4-BE49-F238E27FC236}">
                <a16:creationId xmlns:a16="http://schemas.microsoft.com/office/drawing/2014/main" id="{DDAB1B33-22F1-0752-840C-CD41788E8931}"/>
              </a:ext>
            </a:extLst>
          </p:cNvPr>
          <p:cNvPicPr>
            <a:picLocks noGrp="1" noChangeAspect="1"/>
          </p:cNvPicPr>
          <p:nvPr>
            <p:ph idx="1"/>
          </p:nvPr>
        </p:nvPicPr>
        <p:blipFill>
          <a:blip r:embed="rId2"/>
          <a:stretch>
            <a:fillRect/>
          </a:stretch>
        </p:blipFill>
        <p:spPr>
          <a:xfrm>
            <a:off x="957943" y="1680632"/>
            <a:ext cx="9916885" cy="4807253"/>
          </a:xfrm>
        </p:spPr>
      </p:pic>
    </p:spTree>
    <p:extLst>
      <p:ext uri="{BB962C8B-B14F-4D97-AF65-F5344CB8AC3E}">
        <p14:creationId xmlns:p14="http://schemas.microsoft.com/office/powerpoint/2010/main" val="665373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4D13CE-0567-1D8B-6856-103E235D60BB}"/>
              </a:ext>
            </a:extLst>
          </p:cNvPr>
          <p:cNvPicPr>
            <a:picLocks noChangeAspect="1"/>
          </p:cNvPicPr>
          <p:nvPr/>
        </p:nvPicPr>
        <p:blipFill>
          <a:blip r:embed="rId2"/>
          <a:stretch>
            <a:fillRect/>
          </a:stretch>
        </p:blipFill>
        <p:spPr>
          <a:xfrm>
            <a:off x="950490" y="707571"/>
            <a:ext cx="10291020" cy="5671458"/>
          </a:xfrm>
          <a:prstGeom prst="rect">
            <a:avLst/>
          </a:prstGeom>
        </p:spPr>
      </p:pic>
    </p:spTree>
    <p:extLst>
      <p:ext uri="{BB962C8B-B14F-4D97-AF65-F5344CB8AC3E}">
        <p14:creationId xmlns:p14="http://schemas.microsoft.com/office/powerpoint/2010/main" val="35475085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18</TotalTime>
  <Words>534</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Times New Roman</vt:lpstr>
      <vt:lpstr>Wingdings 3</vt:lpstr>
      <vt:lpstr>Ion Boardroom</vt:lpstr>
      <vt:lpstr>   BOTTRAINER — NLU MODEL TRAINER AND EVALUATOR FOR CHATBOTS </vt:lpstr>
      <vt:lpstr>INTRODUCTION </vt:lpstr>
      <vt:lpstr>PROBLEM STATEMENT</vt:lpstr>
      <vt:lpstr>Tools Used in the Project </vt:lpstr>
      <vt:lpstr>IMPLEMENTATION </vt:lpstr>
      <vt:lpstr>SOLUTION </vt:lpstr>
      <vt:lpstr>CHALLENGES</vt:lpstr>
      <vt:lpstr>IMPACT</vt:lpstr>
      <vt:lpstr>CONCLUSION</vt:lpstr>
      <vt:lpstr>OUTPUT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kamalnath karunakaran</dc:creator>
  <cp:lastModifiedBy>kamalnath karunakaran</cp:lastModifiedBy>
  <cp:revision>2</cp:revision>
  <dcterms:created xsi:type="dcterms:W3CDTF">2025-12-18T15:50:51Z</dcterms:created>
  <dcterms:modified xsi:type="dcterms:W3CDTF">2025-12-19T13:32:56Z</dcterms:modified>
</cp:coreProperties>
</file>